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7"/>
  </p:normalViewPr>
  <p:slideViewPr>
    <p:cSldViewPr snapToGrid="0">
      <p:cViewPr varScale="1">
        <p:scale>
          <a:sx n="107" d="100"/>
          <a:sy n="107" d="100"/>
        </p:scale>
        <p:origin x="92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96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58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66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62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61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6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015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6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2/22/26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10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13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02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8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66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10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2/22/26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89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2/22/26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366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970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2/22/26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506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629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2/22/26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876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773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2/22/26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77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2/22/26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273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2/22/26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122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602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2/22/26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25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2/22/26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662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2/22/26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186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773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850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61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195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228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18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15081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36655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60449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064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7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3505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438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239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35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551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10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023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964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76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49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D2B7399-80E2-643D-F1FC-14F9507EF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736" y="121596"/>
            <a:ext cx="11460480" cy="786384"/>
          </a:xfrm>
        </p:spPr>
        <p:txBody>
          <a:bodyPr/>
          <a:lstStyle/>
          <a:p>
            <a:r>
              <a:rPr lang="en-US" dirty="0"/>
              <a:t>JETT – an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D1293-AEDB-21B4-941D-60FA15CD0409}"/>
              </a:ext>
            </a:extLst>
          </p:cNvPr>
          <p:cNvSpPr txBox="1"/>
          <p:nvPr/>
        </p:nvSpPr>
        <p:spPr>
          <a:xfrm>
            <a:off x="612103" y="1330211"/>
            <a:ext cx="966005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Fully </a:t>
            </a:r>
            <a:r>
              <a:rPr lang="en-US" b="1" dirty="0"/>
              <a:t>productionized</a:t>
            </a:r>
            <a:r>
              <a:rPr lang="en-US" dirty="0"/>
              <a:t>, </a:t>
            </a:r>
            <a:r>
              <a:rPr lang="en-US" b="1" dirty="0"/>
              <a:t>low latency multi-asset execution platform </a:t>
            </a:r>
            <a:r>
              <a:rPr lang="en-US" dirty="0"/>
              <a:t>that supports live trading across </a:t>
            </a:r>
            <a:r>
              <a:rPr lang="en-US" b="1" dirty="0"/>
              <a:t>Treasuries(Bonds &amp; Futures), Swaps, Options &amp; Securitized products</a:t>
            </a:r>
            <a:r>
              <a:rPr lang="en-US" dirty="0"/>
              <a:t>.</a:t>
            </a:r>
          </a:p>
          <a:p>
            <a:r>
              <a:rPr lang="en-US" dirty="0"/>
              <a:t> 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Already integrated with </a:t>
            </a:r>
            <a:r>
              <a:rPr lang="en-US" b="1" dirty="0"/>
              <a:t>multiple liquidity venues and internal pricing sources </a:t>
            </a:r>
            <a:r>
              <a:rPr lang="en-US" dirty="0"/>
              <a:t>and is built on a streaming architecture </a:t>
            </a:r>
            <a:r>
              <a:rPr lang="en-US" b="1" dirty="0"/>
              <a:t>designed for high-throughput, low-latency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platform manages the complete order lifecycle — from pre-trade </a:t>
            </a:r>
            <a:r>
              <a:rPr lang="en-US" b="1" dirty="0"/>
              <a:t>market data ingestion and price discovery from multiple sources </a:t>
            </a:r>
            <a:r>
              <a:rPr lang="en-US" dirty="0"/>
              <a:t>including internal, to </a:t>
            </a:r>
            <a:r>
              <a:rPr lang="en-US" b="1" dirty="0"/>
              <a:t>execution, allocation, booking, and a limited real-time risk monitoring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core design is </a:t>
            </a:r>
            <a:r>
              <a:rPr lang="en-US" b="1" dirty="0"/>
              <a:t>asset-agnostic</a:t>
            </a:r>
            <a:r>
              <a:rPr lang="en-US" dirty="0"/>
              <a:t>, which allows us to extend into additional asset classes — including Commodities — through product modeling and venue connectivity rather than a system rebuild.	</a:t>
            </a:r>
          </a:p>
        </p:txBody>
      </p:sp>
    </p:spTree>
    <p:extLst>
      <p:ext uri="{BB962C8B-B14F-4D97-AF65-F5344CB8AC3E}">
        <p14:creationId xmlns:p14="http://schemas.microsoft.com/office/powerpoint/2010/main" val="3227604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FFE7-803C-5715-DF6E-A2F146D7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60" y="91440"/>
            <a:ext cx="10653578" cy="661595"/>
          </a:xfrm>
        </p:spPr>
        <p:txBody>
          <a:bodyPr/>
          <a:lstStyle/>
          <a:p>
            <a:r>
              <a:rPr lang="en-US" dirty="0"/>
              <a:t>Demo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E7771-1E2F-8CB4-F283-0FB787150CB3}"/>
              </a:ext>
            </a:extLst>
          </p:cNvPr>
          <p:cNvSpPr txBox="1"/>
          <p:nvPr/>
        </p:nvSpPr>
        <p:spPr>
          <a:xfrm>
            <a:off x="558859" y="950026"/>
            <a:ext cx="1065357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 Trade: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Real time liquidity from different price sources including internal</a:t>
            </a:r>
          </a:p>
          <a:p>
            <a:r>
              <a:rPr lang="en-US" dirty="0"/>
              <a:t>   Volume at Price </a:t>
            </a:r>
          </a:p>
          <a:p>
            <a:r>
              <a:rPr lang="en-US" dirty="0"/>
              <a:t>   Risk awareness </a:t>
            </a:r>
          </a:p>
          <a:p>
            <a:endParaRPr lang="en-US" dirty="0"/>
          </a:p>
          <a:p>
            <a:r>
              <a:rPr lang="en-US" b="1" dirty="0"/>
              <a:t>Order Execution:</a:t>
            </a:r>
          </a:p>
          <a:p>
            <a:endParaRPr lang="en-US" dirty="0"/>
          </a:p>
          <a:p>
            <a:r>
              <a:rPr lang="en-US" dirty="0"/>
              <a:t>  Outright (Market Orders)</a:t>
            </a:r>
          </a:p>
          <a:p>
            <a:r>
              <a:rPr lang="en-US" dirty="0"/>
              <a:t>  Iceberg</a:t>
            </a:r>
          </a:p>
          <a:p>
            <a:r>
              <a:rPr lang="en-US" dirty="0"/>
              <a:t>  TWAP</a:t>
            </a:r>
          </a:p>
          <a:p>
            <a:r>
              <a:rPr lang="en-US" dirty="0"/>
              <a:t>  Time Horizon</a:t>
            </a:r>
          </a:p>
          <a:p>
            <a:r>
              <a:rPr lang="en-US" dirty="0"/>
              <a:t>  PACE Best</a:t>
            </a:r>
          </a:p>
          <a:p>
            <a:r>
              <a:rPr lang="en-US" dirty="0"/>
              <a:t>  SONAR</a:t>
            </a:r>
          </a:p>
          <a:p>
            <a:r>
              <a:rPr lang="en-US" dirty="0"/>
              <a:t>  SPREADER</a:t>
            </a:r>
          </a:p>
          <a:p>
            <a:r>
              <a:rPr lang="en-US" dirty="0"/>
              <a:t>  Basket</a:t>
            </a:r>
          </a:p>
          <a:p>
            <a:r>
              <a:rPr lang="en-US" dirty="0"/>
              <a:t>  </a:t>
            </a:r>
          </a:p>
          <a:p>
            <a:r>
              <a:rPr lang="en-US" b="1" dirty="0"/>
              <a:t>Post Trade:</a:t>
            </a:r>
          </a:p>
          <a:p>
            <a:r>
              <a:rPr lang="en-US" dirty="0"/>
              <a:t>  Portfolio Risk</a:t>
            </a:r>
          </a:p>
          <a:p>
            <a:r>
              <a:rPr lang="en-US" b="1" dirty="0"/>
              <a:t>  </a:t>
            </a:r>
            <a:r>
              <a:rPr lang="en-US" dirty="0"/>
              <a:t>Position Risk</a:t>
            </a:r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59672283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181</Words>
  <Application>Microsoft Macintosh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Neue Haas Grotesk Text Pro</vt:lpstr>
      <vt:lpstr>Helena</vt:lpstr>
      <vt:lpstr>JETT – an introduction</vt:lpstr>
      <vt:lpstr>Demo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Balwinder Katoch</dc:creator>
  <cp:lastModifiedBy>Balwinder Katoch</cp:lastModifiedBy>
  <cp:revision>16</cp:revision>
  <dcterms:created xsi:type="dcterms:W3CDTF">2026-02-22T17:22:10Z</dcterms:created>
  <dcterms:modified xsi:type="dcterms:W3CDTF">2026-02-23T11:58:12Z</dcterms:modified>
</cp:coreProperties>
</file>